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554480"/>
            <a:ext cx="91440" cy="146304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68680" y="14630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Attendance, Shift &amp; Leave Management System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Mini Project  |  MySQL + Web UI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4290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25WU0102302  V. SATHWIK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25WU0102300  VINTI SATYA ROHAN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25WU0102301  Y. ADITYA SREEKAR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Description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160020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shifts and leave are tracked in registers and spreadsheets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to errors, duplicate entries, proxy marking and slow leave approvals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64008" cy="160020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371600"/>
            <a:ext cx="3703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Attendance, Shift and Leave Management System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relational database with a web front end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697480"/>
            <a:ext cx="84124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97480"/>
            <a:ext cx="64008" cy="214884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7889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154680"/>
            <a:ext cx="8092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employee, department, shift, attendance and leave data in one normalized MySQL database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integrity with primary keys, foreign keys, UNIQUE, CHECK and ENUM constraints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 double attendance or double shift for an employee on the same date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leave requests and approvals; report totals using joins and aggregates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UI to insert, delete and view records live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Intended Users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393192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and department master data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definitions and daily shift assignment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attendance with check-in / check-out and status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types, leave requests and approval status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shift roster, attendance summary, leave days, headcount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64008" cy="182880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37160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Payroll and salary calculation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Biometric device integration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40233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926080"/>
            <a:ext cx="64008" cy="192024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93776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users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38328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staff: manage employees, approve leave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Managers: assign shifts, view attendance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Employees: apply for leave, view own records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(Chen Notation):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182880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0" y="1709928"/>
            <a:ext cx="182880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0" y="1764792"/>
            <a:ext cx="182880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1737360"/>
            <a:ext cx="182880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1737360"/>
            <a:ext cx="182880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2743200" y="1737360"/>
            <a:ext cx="1828800" cy="10515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15768" y="2788920"/>
            <a:ext cx="0" cy="10515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0632" y="2788920"/>
            <a:ext cx="0" cy="10515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1737360"/>
            <a:ext cx="0" cy="10515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44568" y="2788920"/>
            <a:ext cx="0" cy="10515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99432" y="2788920"/>
            <a:ext cx="0" cy="10515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3840480"/>
            <a:ext cx="182880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3813048"/>
            <a:ext cx="182880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867912"/>
            <a:ext cx="182880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1481328"/>
            <a:ext cx="128016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74320" y="14813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931920" y="1481328"/>
            <a:ext cx="128016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931920" y="14813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589520" y="1481328"/>
            <a:ext cx="128016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89520" y="148132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03120" y="3584448"/>
            <a:ext cx="128016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103120" y="358444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931920" y="3584448"/>
            <a:ext cx="128016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931920" y="358444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Leave_Request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89520" y="3584448"/>
            <a:ext cx="128016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89520" y="358444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Leave_Type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103120" y="1353312"/>
            <a:ext cx="1280160" cy="768096"/>
          </a:xfrm>
          <a:prstGeom prst="diamond">
            <a:avLst/>
          </a:prstGeom>
          <a:solidFill>
            <a:srgbClr val="E3F6F8"/>
          </a:solidFill>
          <a:ln w="25400">
            <a:solidFill>
              <a:srgbClr val="0FA3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24028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760720" y="1353312"/>
            <a:ext cx="1280160" cy="768096"/>
          </a:xfrm>
          <a:prstGeom prst="diamond">
            <a:avLst/>
          </a:prstGeom>
          <a:solidFill>
            <a:srgbClr val="E3F6F8"/>
          </a:solidFill>
          <a:ln w="25400">
            <a:solidFill>
              <a:srgbClr val="0FA3B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897880" y="15544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Assigned_To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103120" y="2404872"/>
            <a:ext cx="1280160" cy="768096"/>
          </a:xfrm>
          <a:prstGeom prst="diamond">
            <a:avLst/>
          </a:prstGeom>
          <a:solidFill>
            <a:srgbClr val="E3F6F8"/>
          </a:solidFill>
          <a:ln w="25400">
            <a:solidFill>
              <a:srgbClr val="0FA3B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240280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931920" y="2404872"/>
            <a:ext cx="1280160" cy="768096"/>
          </a:xfrm>
          <a:prstGeom prst="diamond">
            <a:avLst/>
          </a:prstGeom>
          <a:solidFill>
            <a:srgbClr val="E3F6F8"/>
          </a:solidFill>
          <a:ln w="25400">
            <a:solidFill>
              <a:srgbClr val="0FA3B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069080" y="26060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760720" y="3456432"/>
            <a:ext cx="1280160" cy="768096"/>
          </a:xfrm>
          <a:prstGeom prst="diamond">
            <a:avLst/>
          </a:prstGeom>
          <a:solidFill>
            <a:srgbClr val="E3F6F8"/>
          </a:solidFill>
          <a:ln w="25400">
            <a:solidFill>
              <a:srgbClr val="0FA3B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5897880" y="36576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Classified_As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280160" y="1463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3840480" y="1463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937760" y="1463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7498080" y="146304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3840480" y="1778508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2761488" y="34152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4590288" y="194310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7" name="Text 45"/>
          <p:cNvSpPr txBox="1"/>
          <p:nvPr/>
        </p:nvSpPr>
        <p:spPr>
          <a:xfrm>
            <a:off x="4590288" y="341528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7498080" y="35661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4937760" y="356616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65760" y="4727448"/>
            <a:ext cx="320040" cy="18288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A4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49808" y="4681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600200" y="4727448"/>
            <a:ext cx="36576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2029968" y="4681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 (next slides)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703320" y="4700016"/>
            <a:ext cx="320040" cy="237744"/>
          </a:xfrm>
          <a:prstGeom prst="diamond">
            <a:avLst/>
          </a:prstGeom>
          <a:solidFill>
            <a:srgbClr val="E3F6F8"/>
          </a:solidFill>
          <a:ln w="19050">
            <a:solidFill>
              <a:srgbClr val="0FA3B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087368" y="4681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212080" y="4818888"/>
            <a:ext cx="36576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5641848" y="4681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= link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6675120" y="4796028"/>
            <a:ext cx="36576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675120" y="4841748"/>
            <a:ext cx="36576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104888" y="4681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line = total participation</a:t>
            </a:r>
            <a:endParaRPr lang="en-US" sz="950" dirty="0"/>
          </a:p>
        </p:txBody>
      </p:sp>
      <p:sp>
        <p:nvSpPr>
          <p:cNvPr id="61" name="Text 59"/>
          <p:cNvSpPr txBox="1"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Assigned_To is M:N, so it becomes the shift_assignment table (with work_date).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Diagram: Department, Employee and Shift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463040"/>
            <a:ext cx="502920" cy="12801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280160" y="1463040"/>
            <a:ext cx="685800" cy="12801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743200"/>
            <a:ext cx="0" cy="12801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29000" y="1280160"/>
            <a:ext cx="1143000" cy="146304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280160"/>
            <a:ext cx="0" cy="146304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4572000" y="1280160"/>
            <a:ext cx="1143000" cy="146304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3429000" y="2743200"/>
            <a:ext cx="1143000" cy="146304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743200"/>
            <a:ext cx="0" cy="146304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2743200"/>
            <a:ext cx="0" cy="137160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1463040"/>
            <a:ext cx="548640" cy="12801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7863840" y="1737360"/>
            <a:ext cx="548640" cy="100584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7315200" y="2743200"/>
            <a:ext cx="548640" cy="12801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2743200"/>
            <a:ext cx="548640" cy="109728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80160" y="2743200"/>
            <a:ext cx="164592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2715768"/>
            <a:ext cx="164592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2770632"/>
            <a:ext cx="164592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2743200"/>
            <a:ext cx="164592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2743200"/>
            <a:ext cx="164592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2487168"/>
            <a:ext cx="128016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248716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931920" y="2487168"/>
            <a:ext cx="128016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931920" y="248716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223760" y="2487168"/>
            <a:ext cx="128016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223760" y="248716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0" y="2359152"/>
            <a:ext cx="1280160" cy="768096"/>
          </a:xfrm>
          <a:prstGeom prst="diamond">
            <a:avLst/>
          </a:prstGeom>
          <a:solidFill>
            <a:srgbClr val="E3F6F8"/>
          </a:solidFill>
          <a:ln w="25400">
            <a:solidFill>
              <a:srgbClr val="0FA3B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423160" y="2560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77840" y="2359152"/>
            <a:ext cx="1280160" cy="768096"/>
          </a:xfrm>
          <a:prstGeom prst="diamond">
            <a:avLst/>
          </a:prstGeom>
          <a:solidFill>
            <a:srgbClr val="E3F6F8"/>
          </a:solidFill>
          <a:ln w="25400">
            <a:solidFill>
              <a:srgbClr val="0FA3B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715000" y="2560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Assigned_To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128016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28600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dept_id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417320" y="128016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417320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dept_name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31520" y="384048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3152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880360" y="109728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88036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023360" y="109728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02336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166360" y="109728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166360" y="10972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880360" y="402336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880360" y="4023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023360" y="402336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023360" y="4023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hire_date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669280" y="393192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669280" y="3931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work_date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766560" y="128016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766560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shift_id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863840" y="155448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863840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shift_name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766560" y="384048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76656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start_time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863840" y="365760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7863840" y="3657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end_time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1591056" y="2468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3895344" y="2468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4882896" y="2468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100" dirty="0"/>
          </a:p>
        </p:txBody>
      </p:sp>
      <p:sp>
        <p:nvSpPr>
          <p:cNvPr id="61" name="Text 59"/>
          <p:cNvSpPr txBox="1"/>
          <p:nvPr/>
        </p:nvSpPr>
        <p:spPr>
          <a:xfrm>
            <a:off x="7187184" y="2468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62" name="Text 60"/>
          <p:cNvSpPr txBox="1"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Underlined = primary key. Foreign keys (dept_id, emp_id, shift_id) appear as relationships, not attributes, in Chen notation.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Diagram: Employee and Attendance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0" cy="12801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1371600"/>
            <a:ext cx="731520" cy="137160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4572000" y="1371600"/>
            <a:ext cx="548640" cy="137160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4572000" y="2194560"/>
            <a:ext cx="1828800" cy="54864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2743200"/>
            <a:ext cx="1828800" cy="64008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743200"/>
            <a:ext cx="182880" cy="137160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2743200"/>
            <a:ext cx="164592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2715768"/>
            <a:ext cx="164592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2770632"/>
            <a:ext cx="164592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487168"/>
            <a:ext cx="128016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48716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31920" y="2487168"/>
            <a:ext cx="128016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31920" y="248716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0" y="2359152"/>
            <a:ext cx="1280160" cy="768096"/>
          </a:xfrm>
          <a:prstGeom prst="diamond">
            <a:avLst/>
          </a:prstGeom>
          <a:solidFill>
            <a:srgbClr val="E3F6F8"/>
          </a:solidFill>
          <a:ln w="25400">
            <a:solidFill>
              <a:srgbClr val="0FA3B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23160" y="2560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128016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91840" y="118872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291840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att_id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18872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0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att_date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52160" y="201168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5216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852160" y="320040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52160" y="32004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206240" y="393192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206240" y="3931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check_out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591056" y="2468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3895344" y="2468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employee has many attendance records (one per date); every attendance record must belong to an employee.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Diagram: Employee, Leave_Request and Leave_Type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097280" y="1463040"/>
            <a:ext cx="0" cy="12801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0" y="1371600"/>
            <a:ext cx="731520" cy="137160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4572000" y="1371600"/>
            <a:ext cx="548640" cy="137160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3566160" y="2743200"/>
            <a:ext cx="1005840" cy="137160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2743200"/>
            <a:ext cx="182880" cy="137160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2743200"/>
            <a:ext cx="1371600" cy="137160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1463040"/>
            <a:ext cx="731520" cy="12801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8046720" y="1737360"/>
            <a:ext cx="365760" cy="100584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0" y="2743200"/>
            <a:ext cx="0" cy="128016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2743200"/>
            <a:ext cx="173736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34640" y="2715768"/>
            <a:ext cx="173736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34640" y="2770632"/>
            <a:ext cx="173736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2743200"/>
            <a:ext cx="173736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715768"/>
            <a:ext cx="173736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2770632"/>
            <a:ext cx="1737360" cy="0"/>
          </a:xfrm>
          <a:prstGeom prst="line">
            <a:avLst/>
          </a:prstGeom>
          <a:noFill/>
          <a:ln w="15875">
            <a:solidFill>
              <a:srgbClr val="5B647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87168"/>
            <a:ext cx="128016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248716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931920" y="2487168"/>
            <a:ext cx="128016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31920" y="248716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Leave_Request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06640" y="2487168"/>
            <a:ext cx="1280160" cy="512064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4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06640" y="248716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Leave_Type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94560" y="2359152"/>
            <a:ext cx="1280160" cy="768096"/>
          </a:xfrm>
          <a:prstGeom prst="diamond">
            <a:avLst/>
          </a:prstGeom>
          <a:solidFill>
            <a:srgbClr val="E3F6F8"/>
          </a:solidFill>
          <a:ln w="25400">
            <a:solidFill>
              <a:srgbClr val="0FA3B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331720" y="2560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0" y="2359152"/>
            <a:ext cx="1280160" cy="768096"/>
          </a:xfrm>
          <a:prstGeom prst="diamond">
            <a:avLst/>
          </a:prstGeom>
          <a:solidFill>
            <a:srgbClr val="E3F6F8"/>
          </a:solidFill>
          <a:ln w="25400">
            <a:solidFill>
              <a:srgbClr val="0FA3B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806440" y="256032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Classified_As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128016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48640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emp_id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1840" y="118872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291840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leave_id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572000" y="118872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572000" y="11887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start_date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017520" y="393192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3017520" y="3931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end_date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206240" y="393192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206240" y="3931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94960" y="393192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394960" y="3931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0" y="128016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766560" y="12801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u="sng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type_id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863840" y="155448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863840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type_name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498080" y="3840480"/>
            <a:ext cx="1097280" cy="3657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49808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max_days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435608" y="2468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3867912" y="2468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7342632" y="2468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4910328" y="2468880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leave request belongs to one employee and one leave type; status is Pending, Approved or Rejected.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Attributes and Keys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474720"/>
                <a:gridCol w="33832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Keys / constraints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dept_id, dept_name, location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dept_id; dept_name 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emp_id, name, email, phone, hire_date, dept_id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emp_id; FK dept_id; email 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shift_id, shift_name, start_time, end_time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shift_id; shift_name UNIQUE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Shift_Assignment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assign_id, emp_id, shift_id, work_date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assign_id; FKs; UNIQUE(emp_id, work_date)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att_id, emp_id, att_date, check_in, check_out,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att_id; FK emp_id; UNIQUE(emp_id, att_date); CHECK out &gt; 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Leave_Type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type_id, type_name, max_days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type_id; type_name UNIQUE; CHECK max_days &gt;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Leave_Request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leave_id, emp_id, type_id, start_date, end_date, reason,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 leave_id; FKs; CHECK end &gt;= start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Cardinality and Participation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188720"/>
                <a:gridCol w="39319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Relationship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Participation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B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 has Employee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total (every employee has a dept); Department 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has Attendance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Attendance total; Employee 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assigned Shift (via Shift_Assignment)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partial; Assignment total on both sides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Employee applies Leave_Request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total; Employee 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Leave_Type classifies Leave_Request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: 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total; Leave_Type 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65760" y="4206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participation is enforced in MySQL with NOT NULL foreign keys.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 and Normalization (3NF)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783080"/>
          </a:xfrm>
          <a:prstGeom prst="rect">
            <a:avLst/>
          </a:prstGeom>
          <a:solidFill>
            <a:srgbClr val="141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5488" y="941832"/>
            <a:ext cx="8193024" cy="1636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department(dept_id PK, dept_name, location)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employee(emp_id PK, name, email, phone, hire_date, dept_id FK)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shift(shift_id PK, shift_name, start_time, end_time)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shift_assignment(assign_id PK, emp_id FK, shift_id FK, work_date)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attendance(att_id PK, emp_id FK, att_date, check_in, check_out, status)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leave_type(type_id PK, type_name, max_days)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leave_request(leave_id PK, emp_id FK, type_id FK, start_date,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end_date, reason, status)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274320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2743200"/>
            <a:ext cx="64008" cy="214884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0040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attributes atomic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repeating groups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has a PK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00400" y="274320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2743200"/>
            <a:ext cx="64008" cy="214884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38328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20040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Surrogate single-column PKs, so no partial dependency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M:N split into shift_assignment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2743200"/>
            <a:ext cx="2743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2743200"/>
            <a:ext cx="64008" cy="214884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17920" y="2834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3200400"/>
            <a:ext cx="2423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 name stored once in department, shift timings in shift, max_days in leave_type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1: Create Database and Tables (1/4)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00"/>
          </a:xfrm>
          <a:prstGeom prst="rect">
            <a:avLst/>
          </a:prstGeom>
          <a:solidFill>
            <a:srgbClr val="141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5488" y="941832"/>
            <a:ext cx="81930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DATABASE attendance_db;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attendance_db;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department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dept_id    INT AUTO_INCREMENT PRIMARY KEY,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dept_name  VARCHAR(50) NOT NULL UNIQUE,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location   VARCHAR(50));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employee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emp_id     INT AUTO_INCREMENT PRIMARY KEY,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VARCHAR(80) NOT NULL,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     VARCHAR(80) NOT NULL UNIQUE,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phone      VARCHAR(15),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hire_date  DATE NOT NULL,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dept_id    INT NOT NULL,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(dept_id) REFERENCES department(dept_id)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 DELETE RESTRICT);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run: SHOW TABLES;  DESCRIBE employee;   (full script: schema.sql)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1: Create Tables (2/4)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00"/>
          </a:xfrm>
          <a:prstGeom prst="rect">
            <a:avLst/>
          </a:prstGeom>
          <a:solidFill>
            <a:srgbClr val="141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5488" y="941832"/>
            <a:ext cx="81930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shift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shift_id    INT AUTO_INCREMENT PRIMARY KEY,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shift_name  VARCHAR(30) NOT NULL UNIQUE,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start_time  TIME NOT NULL,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end_time    TIME NOT NULL);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shift_assignment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assign_id  INT AUTO_INCREMENT PRIMARY KEY,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emp_id     INT NOT NULL,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shift_id   INT NOT NULL,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work_date  DATE NOT NULL,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UNIQUE (emp_id, work_date),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(emp_id)   REFERENCES employee(emp_id) ON DELETE CASCADE,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(shift_id) REFERENCES shift(shift_id));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(emp_id, work_date) stops an employee getting two shifts on one day.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1: Create Tables (3/4)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00"/>
          </a:xfrm>
          <a:prstGeom prst="rect">
            <a:avLst/>
          </a:prstGeom>
          <a:solidFill>
            <a:srgbClr val="141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5488" y="941832"/>
            <a:ext cx="81930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attendance 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att_id     INT AUTO_INCREMENT PRIMARY KEY,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emp_id     INT NOT NULL,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att_date   DATE NOT NULL,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check_in   TIME,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check_out  TIME,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    ENUM('Present','Absent','Late','On Leave') NOT NULL DEFAULT 'Present',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UNIQUE (emp_id, att_date),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 (check_in IS NULL OR check_out IS NULL OR check_out &gt; check_in),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(emp_id) REFERENCES employee(emp_id) ON DELETE CASCADE);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leave_type 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type_id    INT AUTO_INCREMENT PRIMARY KEY,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type_name  VARCHAR(30) NOT NULL UNIQUE,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max_days   INT NOT NULL CHECK (max_days &gt; 0));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(emp_id, att_date) allows only one attendance record per employee per day.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1: Create Tables (4/4)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00"/>
          </a:xfrm>
          <a:prstGeom prst="rect">
            <a:avLst/>
          </a:prstGeom>
          <a:solidFill>
            <a:srgbClr val="141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5488" y="941832"/>
            <a:ext cx="81930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leave_request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leave_id    INT AUTO_INCREMENT PRIMARY KEY,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emp_id      INT NOT NULL,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type_id     INT NOT NULL,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start_date  DATE NOT NULL,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end_date    DATE NOT NULL,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reason      VARCHAR(200),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status      ENUM('Pending','Approved','Rejected') NOT NULL DEFAULT 'Pending',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 (end_date &gt;= start_date),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(emp_id)  REFERENCES employee(emp_id) ON DELETE CASCADE,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(type_id) REFERENCES leave_type(type_id));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used: PRIMARY KEY, FOREIGN KEY, UNIQUE, NOT NULL, CHECK, ENUM, DEFAULT.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2: INSERT Records (5 per table)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00"/>
          </a:xfrm>
          <a:prstGeom prst="rect">
            <a:avLst/>
          </a:prstGeom>
          <a:solidFill>
            <a:srgbClr val="141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5488" y="941832"/>
            <a:ext cx="81930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department (dept_name, location) VALUES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('HR','Block A'), ('IT','Block B'), ('Finance','Block A'),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('Sales','Block C'), ('Operations','Block D');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employee (name,email,phone,hire_date,dept_id) VALUES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('Asha Reddy','asha@corp.com','9000000001','2022-03-14',1),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('Ravi Kumar','ravi@corp.com','9000000002','2021-07-01',2),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('Sneha Rao','sneha@corp.com','9000000003','2023-01-10',2),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('Imran Khan','imran@corp.com','9000000004','2020-11-23',3),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('Lakshmi Devi','lakshmi@corp.com','9000000005','2024-05-06',4);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for the other 5 tables are in schema.sql. Verify with SELECT * FROM &lt;table&gt;;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3: SELECT with JOIN and Aggregate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00"/>
          </a:xfrm>
          <a:prstGeom prst="rect">
            <a:avLst/>
          </a:prstGeom>
          <a:solidFill>
            <a:srgbClr val="141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5488" y="941832"/>
            <a:ext cx="81930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JOIN: today's shift roster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e.name, d.dept_name, s.shift_name, s.start_time, s.end_time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shift_assignment sa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employee e   ON e.emp_id   = sa.emp_id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department d ON d.dept_id  = e.dept_id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shift s      ON s.shift_id = sa.shift_id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sa.work_date = '2026-10-05';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AGGREGATE: attendance count by status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status, COUNT(*) AS days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attendance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status;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 joins 4 tables; query 2 uses COUNT with GROUP BY.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3: JOIN + SUM, GROUP BY + HAVING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3657600"/>
          </a:xfrm>
          <a:prstGeom prst="rect">
            <a:avLst/>
          </a:prstGeom>
          <a:solidFill>
            <a:srgbClr val="1419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5488" y="941832"/>
            <a:ext cx="819302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JOIN + SUM: approved leave days per employee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e.name,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SUM(DATEDIFF(l.end_date, l.start_date) + 1) AS approved_days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leave_request 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employee e ON e.emp_id = l.emp_id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l.status = 'Approved'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e.emp_id, e.name;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HAVING: departments with 2 or more employees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d.dept_name, COUNT(e.emp_id) AS headcount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department 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employee e ON e.dept_id = d.dept_id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d.dept_id, d.dept_name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D6E4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COUNT(e.emp_id) &gt;= 2;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65760" y="46177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 adds up leave days; query 4 filters groups with HAVING.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F2A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3: User Interface Connected to MySQL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0233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64008" cy="205740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71600"/>
            <a:ext cx="3703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Flask app (app.py) with mysql-connector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 per table: view, insert form, delete button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 and table whitelist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402336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914400"/>
            <a:ext cx="64008" cy="205740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9377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demo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937760" y="1371600"/>
            <a:ext cx="3703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flask mysql-connector-python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your password in app.py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app.py, open localhost:5000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154680"/>
            <a:ext cx="84124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3154680"/>
            <a:ext cx="64008" cy="1691640"/>
          </a:xfrm>
          <a:prstGeom prst="rect">
            <a:avLst/>
          </a:prstGeom>
          <a:solidFill>
            <a:srgbClr val="0FA3B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32461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script (show the database beside the browser)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611880"/>
            <a:ext cx="8092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add an employee in UI, then run SELECT * FROM employee; in MySQL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remove that row in UI, re-run SELECT to show it is gone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test: delete a department that has employees, MySQL rejects it (RESTRICT) and the UI shows the error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F2A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5544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914400" y="2743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team member may be asked about any part of the project: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definition, ER design, normalization, SQL, or the UI.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Attendance, Shift and Leave Management System</dc:title>
  <dc:subject>PptxGenJS Presentation</dc:subject>
  <dc:creator>PptxGenJS</dc:creator>
  <cp:lastModifiedBy>PptxGenJS</cp:lastModifiedBy>
  <cp:revision>1</cp:revision>
  <dcterms:created xsi:type="dcterms:W3CDTF">2026-10-05T13:44:21Z</dcterms:created>
  <dcterms:modified xsi:type="dcterms:W3CDTF">2026-10-05T13:44:21Z</dcterms:modified>
</cp:coreProperties>
</file>