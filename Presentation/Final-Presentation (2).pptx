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6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8" d="100"/>
          <a:sy n="118" d="100"/>
        </p:scale>
        <p:origin x="250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123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91440" cy="1463040"/>
          </a:xfrm>
          <a:prstGeom prst="rect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868680" y="14630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Attendance, Shift &amp; Leave Management System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Mini Project  |  MySQL + Web UI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4290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25WU0102302  V. SATHWIK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25WU0102300  VINTI SATYA ROHAN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25WU0102301  Y. ADITYA SREEKAR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64008" cy="1600200"/>
          </a:xfrm>
          <a:prstGeom prst="rect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shifts and leave are tracked in registers and spreadsheets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errors, duplicate entries, proxy marking and slow leave approvals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64008" cy="1600200"/>
          </a:xfrm>
          <a:prstGeom prst="rect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9377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37160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Attendance, Shift and Leave Management System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with a web front end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8412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64008" cy="2148840"/>
          </a:xfrm>
          <a:prstGeom prst="rect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27889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54680"/>
            <a:ext cx="8092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employee, department, shift, attendance and leave data in one normalized MySQL database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integrity with primary keys, foreign keys, UNIQUE, CHECK and ENUM constraints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double attendance or double shift for an employee on the same date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leave requests and approvals; report totals using joins and aggregates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UI to insert, delete and view records live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Intended Users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64008" cy="3931920"/>
          </a:xfrm>
          <a:prstGeom prst="rect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and department master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definitions and daily shift assignment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 with check-in / check-out and status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types, leave requests and approval status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shift roster, attendance summary, leave days, headcount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64008" cy="1828800"/>
          </a:xfrm>
          <a:prstGeom prst="rect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9377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37160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and salary calculation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device integration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64008" cy="1920240"/>
          </a:xfrm>
          <a:prstGeom prst="rect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93776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38328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staff: manage employees, approve leave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Managers: assign shifts, view attendance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Employees: apply for leave, view own records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83210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ER Diagram: Employee Attendance, Shift &amp; Leave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508760"/>
            <a:ext cx="109728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508760"/>
            <a:ext cx="10972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2A44"/>
                </a:solidFill>
                <a:latin typeface="Calibri"/>
              </a:rPr>
              <a:t>Department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703320" y="1508760"/>
            <a:ext cx="109728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508760"/>
            <a:ext cx="10972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2A44"/>
                </a:solidFill>
                <a:latin typeface="Calibri"/>
              </a:rPr>
              <a:t>Employee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508760"/>
            <a:ext cx="109728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508760"/>
            <a:ext cx="10972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2A44"/>
                </a:solidFill>
                <a:latin typeface="Calibri"/>
              </a:rPr>
              <a:t>Shift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886200"/>
            <a:ext cx="114300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2A44"/>
                </a:solidFill>
                <a:latin typeface="Calibri"/>
              </a:rPr>
              <a:t>Attendance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3886200"/>
            <a:ext cx="123444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3886200"/>
            <a:ext cx="1234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2A44"/>
                </a:solidFill>
                <a:latin typeface="Calibri"/>
              </a:rPr>
              <a:t>Leave_Request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3886200"/>
            <a:ext cx="114300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886200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2A44"/>
                </a:solidFill>
                <a:latin typeface="Calibri"/>
              </a:rPr>
              <a:t>Leave_Type</a:t>
            </a:r>
          </a:p>
        </p:txBody>
      </p:sp>
      <p:sp>
        <p:nvSpPr>
          <p:cNvPr id="16" name="Diamond 15"/>
          <p:cNvSpPr/>
          <p:nvPr/>
        </p:nvSpPr>
        <p:spPr>
          <a:xfrm>
            <a:off x="1874519" y="1399032"/>
            <a:ext cx="868680" cy="502920"/>
          </a:xfrm>
          <a:prstGeom prst="diamond">
            <a:avLst/>
          </a:prstGeom>
          <a:solidFill>
            <a:srgbClr val="E3F6F8"/>
          </a:solidFill>
          <a:ln w="15240">
            <a:solidFill>
              <a:srgbClr val="0F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444752"/>
            <a:ext cx="685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20" b="1">
                <a:solidFill>
                  <a:srgbClr val="1F2A44"/>
                </a:solidFill>
                <a:latin typeface="Calibri"/>
              </a:rPr>
              <a:t>Has</a:t>
            </a:r>
          </a:p>
        </p:txBody>
      </p:sp>
      <p:sp>
        <p:nvSpPr>
          <p:cNvPr id="18" name="Diamond 17"/>
          <p:cNvSpPr/>
          <p:nvPr/>
        </p:nvSpPr>
        <p:spPr>
          <a:xfrm>
            <a:off x="5074920" y="1399032"/>
            <a:ext cx="1051560" cy="502920"/>
          </a:xfrm>
          <a:prstGeom prst="diamond">
            <a:avLst/>
          </a:prstGeom>
          <a:solidFill>
            <a:srgbClr val="E3F6F8"/>
          </a:solidFill>
          <a:ln w="15240">
            <a:solidFill>
              <a:srgbClr val="0F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59" y="1444752"/>
            <a:ext cx="868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20" b="1">
                <a:solidFill>
                  <a:srgbClr val="1F2A44"/>
                </a:solidFill>
                <a:latin typeface="Calibri"/>
              </a:rPr>
              <a:t>Assigned_To</a:t>
            </a:r>
          </a:p>
        </p:txBody>
      </p:sp>
      <p:sp>
        <p:nvSpPr>
          <p:cNvPr id="20" name="Diamond 19"/>
          <p:cNvSpPr/>
          <p:nvPr/>
        </p:nvSpPr>
        <p:spPr>
          <a:xfrm>
            <a:off x="1828800" y="2880360"/>
            <a:ext cx="914400" cy="502920"/>
          </a:xfrm>
          <a:prstGeom prst="diamond">
            <a:avLst/>
          </a:prstGeom>
          <a:solidFill>
            <a:srgbClr val="E3F6F8"/>
          </a:solidFill>
          <a:ln w="15240">
            <a:solidFill>
              <a:srgbClr val="0F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2926079"/>
            <a:ext cx="731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20" b="1">
                <a:solidFill>
                  <a:srgbClr val="1F2A44"/>
                </a:solidFill>
                <a:latin typeface="Calibri"/>
              </a:rPr>
              <a:t>Records</a:t>
            </a:r>
          </a:p>
        </p:txBody>
      </p:sp>
      <p:sp>
        <p:nvSpPr>
          <p:cNvPr id="22" name="Diamond 21"/>
          <p:cNvSpPr/>
          <p:nvPr/>
        </p:nvSpPr>
        <p:spPr>
          <a:xfrm>
            <a:off x="3337560" y="2880360"/>
            <a:ext cx="914400" cy="502920"/>
          </a:xfrm>
          <a:prstGeom prst="diamond">
            <a:avLst/>
          </a:prstGeom>
          <a:solidFill>
            <a:srgbClr val="E3F6F8"/>
          </a:solidFill>
          <a:ln w="15240">
            <a:solidFill>
              <a:srgbClr val="0F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2926079"/>
            <a:ext cx="731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20" b="1">
                <a:solidFill>
                  <a:srgbClr val="1F2A44"/>
                </a:solidFill>
                <a:latin typeface="Calibri"/>
              </a:rPr>
              <a:t>Applies</a:t>
            </a:r>
          </a:p>
        </p:txBody>
      </p:sp>
      <p:sp>
        <p:nvSpPr>
          <p:cNvPr id="24" name="Diamond 23"/>
          <p:cNvSpPr/>
          <p:nvPr/>
        </p:nvSpPr>
        <p:spPr>
          <a:xfrm>
            <a:off x="5715000" y="3822191"/>
            <a:ext cx="1051560" cy="502920"/>
          </a:xfrm>
          <a:prstGeom prst="diamond">
            <a:avLst/>
          </a:prstGeom>
          <a:solidFill>
            <a:srgbClr val="E3F6F8"/>
          </a:solidFill>
          <a:ln w="15240">
            <a:solidFill>
              <a:srgbClr val="0F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3867911"/>
            <a:ext cx="868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20" b="1">
                <a:solidFill>
                  <a:srgbClr val="1F2A44"/>
                </a:solidFill>
                <a:latin typeface="Calibri"/>
              </a:rPr>
              <a:t>Classified_As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508760" y="1645920"/>
            <a:ext cx="365759" cy="36576"/>
          </a:xfrm>
          <a:prstGeom prst="line">
            <a:avLst/>
          </a:prstGeom>
          <a:ln w="889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43200" y="1645920"/>
            <a:ext cx="960120" cy="36576"/>
          </a:xfrm>
          <a:prstGeom prst="line">
            <a:avLst/>
          </a:prstGeom>
          <a:ln w="889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664208" y="1435608"/>
            <a:ext cx="228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F2A44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0632" y="1435608"/>
            <a:ext cx="228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F2A44"/>
                </a:solidFill>
                <a:latin typeface="Calibri"/>
              </a:rPr>
              <a:t>N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4800600" y="1645920"/>
            <a:ext cx="274320" cy="36576"/>
          </a:xfrm>
          <a:prstGeom prst="line">
            <a:avLst/>
          </a:prstGeom>
          <a:ln w="889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126479" y="1645920"/>
            <a:ext cx="1508761" cy="36576"/>
          </a:xfrm>
          <a:prstGeom prst="line">
            <a:avLst/>
          </a:prstGeom>
          <a:ln w="889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864608" y="1435608"/>
            <a:ext cx="228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F2A44"/>
                </a:solidFill>
                <a:latin typeface="Calibri"/>
              </a:rPr>
              <a:t>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1435608"/>
            <a:ext cx="228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F2A44"/>
                </a:solidFill>
                <a:latin typeface="Calibri"/>
              </a:rPr>
              <a:t>N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286000" y="1856231"/>
            <a:ext cx="1920240" cy="1024129"/>
          </a:xfrm>
          <a:prstGeom prst="line">
            <a:avLst/>
          </a:prstGeom>
          <a:ln w="889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481328" y="3383280"/>
            <a:ext cx="804672" cy="502920"/>
          </a:xfrm>
          <a:prstGeom prst="line">
            <a:avLst/>
          </a:prstGeom>
          <a:ln w="889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11880" y="2331720"/>
            <a:ext cx="228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F2A44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3611880"/>
            <a:ext cx="228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F2A44"/>
                </a:solidFill>
                <a:latin typeface="Calibri"/>
              </a:rPr>
              <a:t>N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3794760" y="1856231"/>
            <a:ext cx="731520" cy="1024129"/>
          </a:xfrm>
          <a:prstGeom prst="line">
            <a:avLst/>
          </a:prstGeom>
          <a:ln w="889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3383280"/>
            <a:ext cx="658368" cy="502920"/>
          </a:xfrm>
          <a:prstGeom prst="line">
            <a:avLst/>
          </a:prstGeom>
          <a:ln w="889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0" y="2331720"/>
            <a:ext cx="228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F2A44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3611880"/>
            <a:ext cx="228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F2A44"/>
                </a:solidFill>
                <a:latin typeface="Calibri"/>
              </a:rPr>
              <a:t>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74920" y="4059936"/>
            <a:ext cx="640080" cy="0"/>
          </a:xfrm>
          <a:prstGeom prst="line">
            <a:avLst/>
          </a:prstGeom>
          <a:ln w="889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766560" y="4059936"/>
            <a:ext cx="731519" cy="0"/>
          </a:xfrm>
          <a:prstGeom prst="line">
            <a:avLst/>
          </a:prstGeom>
          <a:ln w="889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349240" y="3822191"/>
            <a:ext cx="228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F2A44"/>
                </a:solidFill>
                <a:latin typeface="Calibri"/>
              </a:rPr>
              <a:t>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9168" y="3822191"/>
            <a:ext cx="228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F2A44"/>
                </a:solidFill>
                <a:latin typeface="Calibri"/>
              </a:rPr>
              <a:t>1</a:t>
            </a:r>
          </a:p>
        </p:txBody>
      </p:sp>
      <p:sp>
        <p:nvSpPr>
          <p:cNvPr id="46" name="Oval 45"/>
          <p:cNvSpPr/>
          <p:nvPr/>
        </p:nvSpPr>
        <p:spPr>
          <a:xfrm>
            <a:off x="45720" y="96012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" y="96012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1" u="sng">
                <a:solidFill>
                  <a:srgbClr val="1F2A44"/>
                </a:solidFill>
                <a:latin typeface="Calibri"/>
              </a:rPr>
              <a:t>dept_id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34340" y="1078992"/>
            <a:ext cx="434340" cy="429768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914400" y="86868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86868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dept_name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1143000" y="987552"/>
            <a:ext cx="160020" cy="521208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5720" y="201168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" y="201168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location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434340" y="1856231"/>
            <a:ext cx="434340" cy="274321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2971800" y="86868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71800" y="86868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1" u="sng">
                <a:solidFill>
                  <a:srgbClr val="1F2A44"/>
                </a:solidFill>
                <a:latin typeface="Calibri"/>
              </a:rPr>
              <a:t>emp_id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360420" y="987552"/>
            <a:ext cx="708660" cy="521208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3977639" y="77724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77639" y="77724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name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4251960" y="896112"/>
            <a:ext cx="114299" cy="612648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892040" y="96012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92040" y="96012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email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4526280" y="1078992"/>
            <a:ext cx="754379" cy="429768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2834640" y="210312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0" y="210312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phone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3223260" y="1856231"/>
            <a:ext cx="845820" cy="365760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4114800" y="210312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0" y="210312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hire_date</a:t>
            </a:r>
          </a:p>
        </p:txBody>
      </p:sp>
      <p:cxnSp>
        <p:nvCxnSpPr>
          <p:cNvPr id="69" name="Connector 68"/>
          <p:cNvCxnSpPr/>
          <p:nvPr/>
        </p:nvCxnSpPr>
        <p:spPr>
          <a:xfrm flipH="1" flipV="1">
            <a:off x="4434840" y="1856231"/>
            <a:ext cx="68580" cy="365760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7360920" y="86868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60920" y="86868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1" u="sng">
                <a:solidFill>
                  <a:srgbClr val="1F2A44"/>
                </a:solidFill>
                <a:latin typeface="Calibri"/>
              </a:rPr>
              <a:t>shift_id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749540" y="987552"/>
            <a:ext cx="251460" cy="521208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092440" y="82296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92440" y="82296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shift_name</a:t>
            </a:r>
          </a:p>
        </p:txBody>
      </p:sp>
      <p:cxnSp>
        <p:nvCxnSpPr>
          <p:cNvPr id="75" name="Connector 74"/>
          <p:cNvCxnSpPr/>
          <p:nvPr/>
        </p:nvCxnSpPr>
        <p:spPr>
          <a:xfrm flipH="1">
            <a:off x="8229600" y="941832"/>
            <a:ext cx="251460" cy="566928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6995160" y="205740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95160" y="205740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start_time</a:t>
            </a:r>
          </a:p>
        </p:txBody>
      </p:sp>
      <p:cxnSp>
        <p:nvCxnSpPr>
          <p:cNvPr id="78" name="Connector 77"/>
          <p:cNvCxnSpPr/>
          <p:nvPr/>
        </p:nvCxnSpPr>
        <p:spPr>
          <a:xfrm flipV="1">
            <a:off x="7383780" y="1856231"/>
            <a:ext cx="617220" cy="320041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8092440" y="205740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92440" y="205740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end_time</a:t>
            </a:r>
          </a:p>
        </p:txBody>
      </p:sp>
      <p:cxnSp>
        <p:nvCxnSpPr>
          <p:cNvPr id="81" name="Connector 80"/>
          <p:cNvCxnSpPr/>
          <p:nvPr/>
        </p:nvCxnSpPr>
        <p:spPr>
          <a:xfrm flipH="1" flipV="1">
            <a:off x="8229600" y="1856231"/>
            <a:ext cx="251460" cy="320041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137160" y="338328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7160" y="338328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1" u="sng">
                <a:solidFill>
                  <a:srgbClr val="1F2A44"/>
                </a:solidFill>
                <a:latin typeface="Calibri"/>
              </a:rPr>
              <a:t>att_id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25780" y="3502152"/>
            <a:ext cx="754380" cy="384048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822960" y="443484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2960" y="443484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att_date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1211580" y="4233672"/>
            <a:ext cx="205740" cy="320040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2057400" y="365760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57400" y="365760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status</a:t>
            </a:r>
          </a:p>
        </p:txBody>
      </p:sp>
      <p:cxnSp>
        <p:nvCxnSpPr>
          <p:cNvPr id="90" name="Connector 89"/>
          <p:cNvCxnSpPr/>
          <p:nvPr/>
        </p:nvCxnSpPr>
        <p:spPr>
          <a:xfrm flipH="1">
            <a:off x="1828800" y="3776472"/>
            <a:ext cx="617220" cy="283464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0" y="443484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0" y="443484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check_in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388620" y="4233672"/>
            <a:ext cx="525780" cy="320040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2148840" y="434340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48840" y="434340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check_out</a:t>
            </a:r>
          </a:p>
        </p:txBody>
      </p:sp>
      <p:cxnSp>
        <p:nvCxnSpPr>
          <p:cNvPr id="96" name="Connector 95"/>
          <p:cNvCxnSpPr/>
          <p:nvPr/>
        </p:nvCxnSpPr>
        <p:spPr>
          <a:xfrm flipH="1" flipV="1">
            <a:off x="1828800" y="4233672"/>
            <a:ext cx="708660" cy="228600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3246120" y="333756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246120" y="333756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1" u="sng">
                <a:solidFill>
                  <a:srgbClr val="1F2A44"/>
                </a:solidFill>
                <a:latin typeface="Calibri"/>
              </a:rPr>
              <a:t>leave_id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634739" y="3456432"/>
            <a:ext cx="800101" cy="429768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3794760" y="448056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94760" y="448056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start_date</a:t>
            </a:r>
          </a:p>
        </p:txBody>
      </p:sp>
      <p:cxnSp>
        <p:nvCxnSpPr>
          <p:cNvPr id="102" name="Connector 101"/>
          <p:cNvCxnSpPr/>
          <p:nvPr/>
        </p:nvCxnSpPr>
        <p:spPr>
          <a:xfrm flipV="1">
            <a:off x="4183380" y="4233672"/>
            <a:ext cx="251460" cy="365760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5074920" y="443484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74920" y="443484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end_date</a:t>
            </a:r>
          </a:p>
        </p:txBody>
      </p:sp>
      <p:cxnSp>
        <p:nvCxnSpPr>
          <p:cNvPr id="105" name="Connector 104"/>
          <p:cNvCxnSpPr/>
          <p:nvPr/>
        </p:nvCxnSpPr>
        <p:spPr>
          <a:xfrm flipH="1" flipV="1">
            <a:off x="4572000" y="4233672"/>
            <a:ext cx="891540" cy="320040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5212080" y="342900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212080" y="342900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reason</a:t>
            </a:r>
          </a:p>
        </p:txBody>
      </p:sp>
      <p:cxnSp>
        <p:nvCxnSpPr>
          <p:cNvPr id="108" name="Connector 107"/>
          <p:cNvCxnSpPr/>
          <p:nvPr/>
        </p:nvCxnSpPr>
        <p:spPr>
          <a:xfrm flipH="1">
            <a:off x="4846320" y="3547872"/>
            <a:ext cx="754380" cy="338328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2926080" y="443484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926080" y="443484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status</a:t>
            </a:r>
          </a:p>
        </p:txBody>
      </p:sp>
      <p:cxnSp>
        <p:nvCxnSpPr>
          <p:cNvPr id="111" name="Connector 110"/>
          <p:cNvCxnSpPr/>
          <p:nvPr/>
        </p:nvCxnSpPr>
        <p:spPr>
          <a:xfrm flipV="1">
            <a:off x="3314700" y="4233672"/>
            <a:ext cx="662939" cy="320040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6903720" y="333756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903720" y="333756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1" u="sng">
                <a:solidFill>
                  <a:srgbClr val="1F2A44"/>
                </a:solidFill>
                <a:latin typeface="Calibri"/>
              </a:rPr>
              <a:t>type_id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7292340" y="3456432"/>
            <a:ext cx="772668" cy="429768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7452360" y="443484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452360" y="443484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type_name</a:t>
            </a:r>
          </a:p>
        </p:txBody>
      </p:sp>
      <p:cxnSp>
        <p:nvCxnSpPr>
          <p:cNvPr id="117" name="Connector 116"/>
          <p:cNvCxnSpPr/>
          <p:nvPr/>
        </p:nvCxnSpPr>
        <p:spPr>
          <a:xfrm flipV="1">
            <a:off x="7840980" y="4233672"/>
            <a:ext cx="224028" cy="320040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8229600" y="333756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229600" y="333756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max_days</a:t>
            </a:r>
          </a:p>
        </p:txBody>
      </p:sp>
      <p:cxnSp>
        <p:nvCxnSpPr>
          <p:cNvPr id="120" name="Connector 119"/>
          <p:cNvCxnSpPr/>
          <p:nvPr/>
        </p:nvCxnSpPr>
        <p:spPr>
          <a:xfrm flipH="1">
            <a:off x="8229600" y="3456432"/>
            <a:ext cx="388620" cy="429768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5212080" y="2240280"/>
            <a:ext cx="777240" cy="23774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212080" y="2240280"/>
            <a:ext cx="7772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70" b="0">
                <a:solidFill>
                  <a:srgbClr val="1F2A44"/>
                </a:solidFill>
                <a:latin typeface="Calibri"/>
              </a:rPr>
              <a:t>work_date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5600700" y="1901952"/>
            <a:ext cx="0" cy="338328"/>
          </a:xfrm>
          <a:prstGeom prst="line">
            <a:avLst/>
          </a:prstGeom>
          <a:ln w="63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411480" y="4800600"/>
            <a:ext cx="8321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5B6478"/>
                </a:solidFill>
                <a:latin typeface="Calibri"/>
              </a:rPr>
              <a:t>Underlined = Primary Key  |  M:N Assigned_To is implemented as shift_assignment(work_date)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Attributes and Keys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/ constraints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dept_id, dept_name,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dept_id; dept_name 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emp_id, name, email, phone, hire_date, dept_id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emp_id; FK dept_id; email 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shift_id, shift_name, start_time, end_time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shift_id; shift_name 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Shift_Assignment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assign_id, emp_id, shift_id, work_date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assign_id; FKs; UNIQUE(emp_id, work_date)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att_id, emp_id, att_date, check_in, check_out,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att_id; FK emp_id; UNIQUE(emp_id, att_date); CHECK out &gt;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type_id, type_name, max_days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type_id; type_name UNIQUE; CHECK max_days &gt;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Leave_Request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leave_id, emp_id, type_id, start_date, end_date, reason,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leave_id; FKs; CHECK end &gt;=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Cardinality and Participation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has Employee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total (every employee has a dept); Department 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has Attendance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total; Employee 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assigned Shift (via Shift_Assignment)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partial; Assignment total on both sides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applies Leave_Request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total; Employee 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Leave_Type classifies Leave_Request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total; Leave_Type 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participation is enforced in MySQL with NOT NULL foreign keys.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and Normalization (3NF)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783080"/>
          </a:xfrm>
          <a:prstGeom prst="rect">
            <a:avLst/>
          </a:prstGeom>
          <a:solidFill>
            <a:srgbClr val="141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75488" y="941832"/>
            <a:ext cx="8193024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department(dept_id PK, dept_name, location)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employee(emp_id PK, name, email, phone, hire_date, dept_id FK)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shift(shift_id PK, shift_name, start_time, end_time)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shift_assignment(assign_id PK, emp_id FK, shift_id FK, work_date)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attendance(att_id PK, emp_id FK, att_date, check_in, check_out, status)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leave_type(type_id PK, type_name, max_days)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leave_request(leave_id PK, emp_id FK, type_id FK, start_date,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end_date, reason, status)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74320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64008" cy="2148840"/>
          </a:xfrm>
          <a:prstGeom prst="rect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04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attributes atomic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repeating groups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has a PK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274320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0" y="2743200"/>
            <a:ext cx="64008" cy="2148840"/>
          </a:xfrm>
          <a:prstGeom prst="rect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8328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2004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single-column PKs, so no partial dependency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M:N split into shift_assignment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274320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35040" y="2743200"/>
            <a:ext cx="64008" cy="2148840"/>
          </a:xfrm>
          <a:prstGeom prst="rect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21792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2004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name stored once in department, shift timings in shift, max_days in leave_type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1: Create Database and Tables (1/4)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00"/>
          </a:xfrm>
          <a:prstGeom prst="rect">
            <a:avLst/>
          </a:prstGeom>
          <a:solidFill>
            <a:srgbClr val="141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75488" y="941832"/>
            <a:ext cx="81930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attendance_db;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attendance_db;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department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dept_id    INT AUTO_INCREMENT PRIMARY KEY,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dept_name  VARCHAR(50) NOT NULL UNIQUE,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  VARCHAR(50));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employee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emp_id     INT AUTO_INCREMENT PRIMARY KEY,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VARCHAR(80) NOT NULL,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 VARCHAR(80) NOT NULL UNIQUE,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      VARCHAR(15),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hire_date  DATE NOT NULL,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dept_id    INT NOT NULL,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(dept_id) REFERENCES department(dept_id)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RESTRICT);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run: SHOW TABLES;  DESCRIBE employee;   (full script: schema.sql)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1: Create Tables (2/4)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00"/>
          </a:xfrm>
          <a:prstGeom prst="rect">
            <a:avLst/>
          </a:prstGeom>
          <a:solidFill>
            <a:srgbClr val="141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75488" y="941832"/>
            <a:ext cx="81930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shift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shift_id    INT AUTO_INCREMENT PRIMARY KEY,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shift_name  VARCHAR(30) NOT NULL UNIQUE,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start_time  TIME NOT NULL,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end_time    TIME NOT NULL);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shift_assignment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assign_id  INT AUTO_INCREMENT PRIMARY KEY,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emp_id     INT NOT NULL,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shift_id   INT NOT NULL,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work_date  DATE NOT NULL,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UNIQUE (emp_id, work_date),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(emp_id)   REFERENCES employee(emp_id) ON DELETE CASCADE,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(shift_id) REFERENCES shift(shift_id));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(emp_id, work_date) stops an employee getting two shifts on one day.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1: Create Tables (3/4)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00"/>
          </a:xfrm>
          <a:prstGeom prst="rect">
            <a:avLst/>
          </a:prstGeom>
          <a:solidFill>
            <a:srgbClr val="141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75488" y="941832"/>
            <a:ext cx="81930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attendance 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att_id     INT AUTO_INCREMENT PRIMARY KEY,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emp_id     INT NOT NULL,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att_date   DATE NOT NULL,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check_in   TIME,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check_out  TIME,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    ENUM('Present','Absent','Late','On Leave') NOT NULL DEFAULT 'Present',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UNIQUE (emp_id, att_date),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 (check_in IS NULL OR check_out IS NULL OR check_out &gt; check_in),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(emp_id) REFERENCES employee(emp_id) ON DELETE CASCADE);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leave_type 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type_id    INT AUTO_INCREMENT PRIMARY KEY,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type_name  VARCHAR(30) NOT NULL UNIQUE,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max_days   INT NOT NULL CHECK (max_days &gt; 0));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(emp_id, att_date) allows only one attendance record per employee per day.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1: Create Tables (4/4)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00"/>
          </a:xfrm>
          <a:prstGeom prst="rect">
            <a:avLst/>
          </a:prstGeom>
          <a:solidFill>
            <a:srgbClr val="141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75488" y="941832"/>
            <a:ext cx="81930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leave_request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leave_id    INT AUTO_INCREMENT PRIMARY KEY,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emp_id      INT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type_id     INT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start_date  DATE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end_date    DATE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reason      VARCHAR(200),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     ENUM('Pending','Approved','Rejected') NOT NULL DEFAULT 'Pending',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 (end_date &gt;= start_date),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(emp_id)  REFERENCES employee(emp_id) ON DELETE CASCADE,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(type_id) REFERENCES leave_type(type_id));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used: PRIMARY KEY, FOREIGN KEY, UNIQUE, NOT NULL, CHECK, ENUM, DEFAULT.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2: INSERT Records (5 per table)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00"/>
          </a:xfrm>
          <a:prstGeom prst="rect">
            <a:avLst/>
          </a:prstGeom>
          <a:solidFill>
            <a:srgbClr val="141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75488" y="941832"/>
            <a:ext cx="81930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department (dept_name, location) VALUES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('HR','Block A'), ('IT','Block B'), ('Finance','Block A'),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('Sales','Block C'), ('Operations','Block D');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employee (name,email,phone,hire_date,dept_id) VALUES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('Asha Reddy','asha@corp.com','9000000001','2022-03-14',1),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('Ravi Kumar','ravi@corp.com','9000000002','2021-07-01',2),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('Sneha Rao','sneha@corp.com','9000000003','2023-01-10',2),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('Imran Khan','imran@corp.com','9000000004','2020-11-23',3),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('Lakshmi Devi','lakshmi@corp.com','9000000005','2024-05-06',4);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for the other 5 tables are in schema.sql. Verify with SELECT * FROM &lt;table&gt;;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3: SELECT with JOIN and Aggregate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00"/>
          </a:xfrm>
          <a:prstGeom prst="rect">
            <a:avLst/>
          </a:prstGeom>
          <a:solidFill>
            <a:srgbClr val="141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75488" y="941832"/>
            <a:ext cx="81930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JOIN: today's shift roster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e.name, d.dept_name, s.shift_name, s.start_time, s.end_time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shift_assignment sa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employee e   ON e.emp_id   = sa.emp_id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department d ON d.dept_id  = e.dept_id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shift s      ON s.shift_id = sa.shift_id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sa.work_date = '2026-10-05';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AGGREGATE: attendance count by status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status, COUNT(*) AS days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attendance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status;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joins 4 tables; query 2 uses COUNT with GROUP BY.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3: JOIN + SUM, GROUP BY + HAVING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00"/>
          </a:xfrm>
          <a:prstGeom prst="rect">
            <a:avLst/>
          </a:prstGeom>
          <a:solidFill>
            <a:srgbClr val="141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75488" y="941832"/>
            <a:ext cx="81930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JOIN + SUM: approved leave days per employee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e.name,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SUM(DATEDIFF(l.end_date, l.start_date) + 1) AS approved_days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leave_request 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employee e ON e.emp_id = l.emp_id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l.status = 'Approved'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e.emp_id, e.name;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HAVING: departments with 2 or more employees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d.dept_name, COUNT(e.emp_id) AS headcount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department 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employee e ON e.dept_id = d.dept_id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d.dept_id, d.dept_name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COUNT(e.emp_id) &gt;= 2;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adds up leave days; query 4 filters groups with HAVING.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3: User Interface Connected to MySQL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64008" cy="2057400"/>
          </a:xfrm>
          <a:prstGeom prst="rect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703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app (app.py) with mysql-connector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per table: view, insert form, delete button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and table whitelist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64008" cy="2057400"/>
          </a:xfrm>
          <a:prstGeom prst="rect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9377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demo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371600"/>
            <a:ext cx="3703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flask mysql-connector-python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password in app.py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app.py, open localhost:5000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8412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64008" cy="1691640"/>
          </a:xfrm>
          <a:prstGeom prst="rect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32461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 (show the database beside the browser)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11880"/>
            <a:ext cx="8092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add an employee in UI, then run SELECT * FROM employee; in MySQL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remove that row in UI, re-run SELECT to show it is gone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test: delete a department that has employees, MySQL rejects it (RESTRICT) and the UI shows the error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770443"/>
            <a:ext cx="9144000" cy="1799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2312</Words>
  <Application>Microsoft Office PowerPoint</Application>
  <PresentationFormat>On-screen Show (16:9)</PresentationFormat>
  <Paragraphs>322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Attendance, Shift and Leave Management System</dc:title>
  <dc:subject>PptxGenJS Presentation</dc:subject>
  <dc:creator>PptxGenJS</dc:creator>
  <cp:lastModifiedBy>Sathwik Vithanala</cp:lastModifiedBy>
  <cp:revision>2</cp:revision>
  <dcterms:created xsi:type="dcterms:W3CDTF">2026-10-05T13:44:21Z</dcterms:created>
  <dcterms:modified xsi:type="dcterms:W3CDTF">2026-10-07T07:48:03Z</dcterms:modified>
</cp:coreProperties>
</file>